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57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94CC-B73F-4DA7-B387-A86E058D5E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2750345-27EE-4726-B61F-3FB140E5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977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94CC-B73F-4DA7-B387-A86E058D5E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50345-27EE-4726-B61F-3FB140E5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375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94CC-B73F-4DA7-B387-A86E058D5E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2750345-27EE-4726-B61F-3FB140E5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94CC-B73F-4DA7-B387-A86E058D5E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2750345-27EE-4726-B61F-3FB140E5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891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94CC-B73F-4DA7-B387-A86E058D5E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2750345-27EE-4726-B61F-3FB140E5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95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94CC-B73F-4DA7-B387-A86E058D5E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50345-27EE-4726-B61F-3FB140E5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821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94CC-B73F-4DA7-B387-A86E058D5E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50345-27EE-4726-B61F-3FB140E5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336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94CC-B73F-4DA7-B387-A86E058D5E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50345-27EE-4726-B61F-3FB140E5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3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94CC-B73F-4DA7-B387-A86E058D5E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2750345-27EE-4726-B61F-3FB140E5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033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94CC-B73F-4DA7-B387-A86E058D5E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2750345-27EE-4726-B61F-3FB140E5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62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94CC-B73F-4DA7-B387-A86E058D5E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2750345-27EE-4726-B61F-3FB140E5B9D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6974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94CC-B73F-4DA7-B387-A86E058D5E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2750345-27EE-4726-B61F-3FB140E5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86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94CC-B73F-4DA7-B387-A86E058D5E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2750345-27EE-4726-B61F-3FB140E5B9D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00151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94CC-B73F-4DA7-B387-A86E058D5E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2750345-27EE-4726-B61F-3FB140E5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65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94CC-B73F-4DA7-B387-A86E058D5E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50345-27EE-4726-B61F-3FB140E5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362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294CC-B73F-4DA7-B387-A86E058D5E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50345-27EE-4726-B61F-3FB140E5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259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7294CC-B73F-4DA7-B387-A86E058D5E1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2750345-27EE-4726-B61F-3FB140E5B9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794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  <p:sldLayoutId id="2147483975" r:id="rId15"/>
    <p:sldLayoutId id="21474839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3BDA87AD-965E-19E6-2E5C-FCF794D12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5965" y="1951672"/>
            <a:ext cx="6573366" cy="1477328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HR Analytics Dashboard</a:t>
            </a:r>
            <a:br>
              <a:rPr lang="en-US" sz="2800" b="1" dirty="0">
                <a:solidFill>
                  <a:srgbClr val="C0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lang="en-US" sz="2800" b="1" dirty="0">
                <a:solidFill>
                  <a:srgbClr val="C0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Employee Attrition Analysis</a:t>
            </a:r>
            <a:br>
              <a:rPr lang="en-US" sz="2800" b="1" dirty="0">
                <a:latin typeface="Bahnschrift SemiBold" panose="020B0502040204020203" pitchFamily="34" charset="0"/>
              </a:rPr>
            </a:br>
            <a:endParaRPr lang="en-US" sz="2800" dirty="0">
              <a:latin typeface="Bahnschrift SemiBold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37B2F2-3BEF-3DEC-1883-5D6FBC990EEE}"/>
              </a:ext>
            </a:extLst>
          </p:cNvPr>
          <p:cNvSpPr txBox="1"/>
          <p:nvPr/>
        </p:nvSpPr>
        <p:spPr>
          <a:xfrm>
            <a:off x="5782648" y="4467618"/>
            <a:ext cx="609755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Prepared by: </a:t>
            </a:r>
            <a:r>
              <a:rPr lang="en-US" dirty="0"/>
              <a:t>Sally Alaa</a:t>
            </a:r>
            <a:br>
              <a:rPr lang="en-US" dirty="0"/>
            </a:br>
            <a:r>
              <a:rPr lang="en-US" b="1" dirty="0"/>
              <a:t>Role: </a:t>
            </a:r>
            <a:r>
              <a:rPr lang="en-US" dirty="0"/>
              <a:t>Data Analyst</a:t>
            </a:r>
            <a:br>
              <a:rPr lang="en-US" dirty="0"/>
            </a:br>
            <a:r>
              <a:rPr lang="en-US" b="1" dirty="0"/>
              <a:t>Tools: </a:t>
            </a:r>
            <a:r>
              <a:rPr lang="en-US" dirty="0"/>
              <a:t>SQL | Power BI | Data Analysis.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>
                <a:solidFill>
                  <a:srgbClr val="C00000"/>
                </a:solidFill>
              </a:rPr>
              <a:t>Understanding why employees leave and how to improve retention.</a:t>
            </a:r>
          </a:p>
        </p:txBody>
      </p:sp>
    </p:spTree>
    <p:extLst>
      <p:ext uri="{BB962C8B-B14F-4D97-AF65-F5344CB8AC3E}">
        <p14:creationId xmlns:p14="http://schemas.microsoft.com/office/powerpoint/2010/main" val="3796487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91DB3-939E-36E5-C021-F0A8D0AE0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6" y="624110"/>
            <a:ext cx="8099956" cy="560878"/>
          </a:xfrm>
        </p:spPr>
        <p:txBody>
          <a:bodyPr>
            <a:noAutofit/>
          </a:bodyPr>
          <a:lstStyle/>
          <a:p>
            <a:r>
              <a:rPr lang="en-US" sz="3200" u="sng" dirty="0">
                <a:solidFill>
                  <a:srgbClr val="C0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Business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A70E0-9D7C-BC02-7A3E-4F42478C3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4620" y="1576873"/>
            <a:ext cx="9059992" cy="4334349"/>
          </a:xfrm>
        </p:spPr>
        <p:txBody>
          <a:bodyPr/>
          <a:lstStyle/>
          <a:p>
            <a:r>
              <a:rPr lang="en-US" dirty="0"/>
              <a:t>Employee attrition is a critical challenge for organizations, leading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recruitment costs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Productivity loss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Team instability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project analyzes HR data to uncover </a:t>
            </a:r>
            <a:r>
              <a:rPr lang="en-US" b="1" dirty="0">
                <a:solidFill>
                  <a:srgbClr val="C00000"/>
                </a:solidFill>
              </a:rPr>
              <a:t>patterns</a:t>
            </a:r>
            <a:r>
              <a:rPr lang="en-US" b="1" dirty="0"/>
              <a:t>, </a:t>
            </a:r>
            <a:r>
              <a:rPr lang="en-US" b="1" dirty="0">
                <a:solidFill>
                  <a:srgbClr val="C00000"/>
                </a:solidFill>
              </a:rPr>
              <a:t>risks</a:t>
            </a:r>
            <a:r>
              <a:rPr lang="en-US" b="1" dirty="0"/>
              <a:t>, </a:t>
            </a:r>
            <a:r>
              <a:rPr lang="en-US" b="1" dirty="0">
                <a:solidFill>
                  <a:srgbClr val="C00000"/>
                </a:solidFill>
              </a:rPr>
              <a:t>and drivers of employee attrition</a:t>
            </a:r>
            <a:r>
              <a:rPr lang="en-US" dirty="0"/>
              <a:t> and support better HR decision-making.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550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C7E25-C885-B1C8-3C54-93518DFA8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742" y="689424"/>
            <a:ext cx="5291442" cy="644853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C0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6D673-04F7-0B05-5CC0-60E901A72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9742" y="1629748"/>
            <a:ext cx="8915400" cy="3777622"/>
          </a:xfrm>
        </p:spPr>
        <p:txBody>
          <a:bodyPr/>
          <a:lstStyle/>
          <a:p>
            <a:r>
              <a:rPr lang="en-US" dirty="0"/>
              <a:t>The organization wants to understand:</a:t>
            </a:r>
          </a:p>
          <a:p>
            <a:r>
              <a:rPr lang="en-US" dirty="0"/>
              <a:t>Who is leaving the company ?</a:t>
            </a:r>
          </a:p>
          <a:p>
            <a:r>
              <a:rPr lang="en-US" dirty="0"/>
              <a:t>Why are employees leaving ?</a:t>
            </a:r>
          </a:p>
          <a:p>
            <a:r>
              <a:rPr lang="en-US" dirty="0"/>
              <a:t>Which departments and job roles are most affected ?</a:t>
            </a:r>
          </a:p>
          <a:p>
            <a:r>
              <a:rPr lang="en-US" dirty="0"/>
              <a:t>How can attrition be reduced using data-driven insights 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31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E1B1D-6E54-4022-1587-2FDB21E21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6" y="624110"/>
            <a:ext cx="4405034" cy="654184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rgbClr val="C0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E15BD-1184-89CD-D115-6DF14EEE0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9546" y="1540189"/>
            <a:ext cx="9812454" cy="3777622"/>
          </a:xfrm>
        </p:spPr>
        <p:txBody>
          <a:bodyPr/>
          <a:lstStyle/>
          <a:p>
            <a:r>
              <a:rPr lang="en-US" b="1" dirty="0"/>
              <a:t>Total Employees: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1,480</a:t>
            </a:r>
          </a:p>
          <a:p>
            <a:r>
              <a:rPr lang="en-US" b="1" dirty="0"/>
              <a:t>Key Data Categories:</a:t>
            </a:r>
            <a:endParaRPr lang="en-US" dirty="0"/>
          </a:p>
          <a:p>
            <a:pPr lvl="1"/>
            <a:r>
              <a:rPr lang="en-US" dirty="0"/>
              <a:t>Demographics (Age, Gender, Marital Status)</a:t>
            </a:r>
          </a:p>
          <a:p>
            <a:pPr lvl="1"/>
            <a:r>
              <a:rPr lang="en-US" dirty="0"/>
              <a:t>Job Information (Department, Job Role, Job Level)</a:t>
            </a:r>
          </a:p>
          <a:p>
            <a:pPr lvl="1"/>
            <a:r>
              <a:rPr lang="en-US" dirty="0"/>
              <a:t>Compensation (Monthly Income, Salary Slab)</a:t>
            </a:r>
          </a:p>
          <a:p>
            <a:pPr lvl="1"/>
            <a:r>
              <a:rPr lang="en-US" dirty="0"/>
              <a:t>Work Conditions (</a:t>
            </a:r>
            <a:r>
              <a:rPr lang="en-US" dirty="0" err="1"/>
              <a:t>OverTime</a:t>
            </a:r>
            <a:r>
              <a:rPr lang="en-US" dirty="0"/>
              <a:t>, Business Travel, Distance from Home)</a:t>
            </a:r>
          </a:p>
          <a:p>
            <a:pPr lvl="1"/>
            <a:r>
              <a:rPr lang="en-US" dirty="0"/>
              <a:t>Satisfaction Metrics (Job Satisfaction, Environment Satisfaction, Work-Life Balance)</a:t>
            </a:r>
          </a:p>
          <a:p>
            <a:r>
              <a:rPr lang="en-US" dirty="0">
                <a:solidFill>
                  <a:schemeClr val="accent1"/>
                </a:solidFill>
              </a:rPr>
              <a:t>The data was cleaned, transformed, and analyzed to generate meaningful insights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864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63BFD-7BD8-096A-7A03-261F78DCC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411" y="708085"/>
            <a:ext cx="3639924" cy="616861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chemeClr val="accent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2FC6B-DD05-A1AD-0A20-B8A5FE25E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3992" y="1735494"/>
            <a:ext cx="9190620" cy="4175728"/>
          </a:xfrm>
        </p:spPr>
        <p:txBody>
          <a:bodyPr/>
          <a:lstStyle/>
          <a:p>
            <a:r>
              <a:rPr lang="en-US" b="1" dirty="0"/>
              <a:t>Higher attrition among young employees</a:t>
            </a:r>
            <a:r>
              <a:rPr lang="en-US" dirty="0"/>
              <a:t> (20–30 years) with limited. experience</a:t>
            </a:r>
          </a:p>
          <a:p>
            <a:r>
              <a:rPr lang="en-US" b="1" dirty="0"/>
              <a:t>Sales and operational roles</a:t>
            </a:r>
            <a:r>
              <a:rPr lang="en-US" dirty="0"/>
              <a:t> show the highest attrition rates.</a:t>
            </a:r>
          </a:p>
          <a:p>
            <a:r>
              <a:rPr lang="en-US" dirty="0"/>
              <a:t>Employees working </a:t>
            </a:r>
            <a:r>
              <a:rPr lang="en-US" b="1" dirty="0"/>
              <a:t>overtime</a:t>
            </a:r>
            <a:r>
              <a:rPr lang="en-US" dirty="0"/>
              <a:t> are more likely to leave.</a:t>
            </a:r>
          </a:p>
          <a:p>
            <a:r>
              <a:rPr lang="en-US" b="1" dirty="0"/>
              <a:t>Low salary growth and delayed promotions</a:t>
            </a:r>
            <a:r>
              <a:rPr lang="en-US" dirty="0"/>
              <a:t> increase attrition risk.</a:t>
            </a:r>
          </a:p>
          <a:p>
            <a:r>
              <a:rPr lang="en-US" b="1" dirty="0"/>
              <a:t>Low job and environment satisfaction</a:t>
            </a:r>
            <a:r>
              <a:rPr lang="en-US" dirty="0"/>
              <a:t> strongly correlate with attrition.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176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E84E7-8558-1828-37FE-764849E07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6" y="624110"/>
            <a:ext cx="4955540" cy="560878"/>
          </a:xfrm>
        </p:spPr>
        <p:txBody>
          <a:bodyPr>
            <a:normAutofit fontScale="90000"/>
          </a:bodyPr>
          <a:lstStyle/>
          <a:p>
            <a:r>
              <a:rPr lang="en-US" u="sng" dirty="0">
                <a:solidFill>
                  <a:schemeClr val="accent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 &amp;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16896-E88B-6358-AC99-70D5EDF4C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Total Employees is </a:t>
            </a:r>
            <a:r>
              <a:rPr lang="en-US" dirty="0">
                <a:solidFill>
                  <a:schemeClr val="accent1"/>
                </a:solidFill>
              </a:rPr>
              <a:t>1480</a:t>
            </a:r>
          </a:p>
          <a:p>
            <a:r>
              <a:rPr lang="en-US" dirty="0"/>
              <a:t>Attrition Rate (</a:t>
            </a:r>
            <a:r>
              <a:rPr lang="en-US" dirty="0">
                <a:solidFill>
                  <a:schemeClr val="accent1"/>
                </a:solidFill>
              </a:rPr>
              <a:t>16.08 %</a:t>
            </a:r>
            <a:r>
              <a:rPr lang="en-US" dirty="0"/>
              <a:t>)</a:t>
            </a:r>
          </a:p>
          <a:p>
            <a:r>
              <a:rPr lang="en-US" dirty="0"/>
              <a:t>Average Age is </a:t>
            </a:r>
            <a:r>
              <a:rPr lang="en-US" dirty="0">
                <a:solidFill>
                  <a:schemeClr val="accent1"/>
                </a:solidFill>
              </a:rPr>
              <a:t>36.92</a:t>
            </a:r>
          </a:p>
          <a:p>
            <a:r>
              <a:rPr lang="en-US" dirty="0"/>
              <a:t>Average Monthly Income is </a:t>
            </a:r>
            <a:r>
              <a:rPr lang="en-US" dirty="0">
                <a:solidFill>
                  <a:schemeClr val="accent1"/>
                </a:solidFill>
              </a:rPr>
              <a:t>6.50k</a:t>
            </a:r>
          </a:p>
          <a:p>
            <a:r>
              <a:rPr lang="en-US" dirty="0"/>
              <a:t>Average Years at Company is </a:t>
            </a:r>
            <a:r>
              <a:rPr lang="en-US" dirty="0">
                <a:solidFill>
                  <a:schemeClr val="accent1"/>
                </a:solidFill>
              </a:rPr>
              <a:t>7.01</a:t>
            </a:r>
          </a:p>
          <a:p>
            <a:r>
              <a:rPr lang="en-US" dirty="0"/>
              <a:t>The interactive dashboard enables filtering by department, job role, and demographics to support focused analysis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102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DDD45-FB9B-E8DE-B53E-6AF724635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7502797" cy="682176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accent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95EB6-2EA8-662A-4E2E-543DE695A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1273" y="1689479"/>
            <a:ext cx="8892041" cy="3777622"/>
          </a:xfrm>
        </p:spPr>
        <p:txBody>
          <a:bodyPr/>
          <a:lstStyle/>
          <a:p>
            <a:r>
              <a:rPr lang="en-US" dirty="0"/>
              <a:t>Based on the analysis, the following actions are recommended: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Reduce excessive overtime in high-risk roles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Improve work-life balance initiatives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Introduce structured career development paths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Review compensation policies for low salary brackets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Enhance employee engagement and satisfaction programs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097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FBD7D-88C6-63D4-669D-B2CEFAF65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4908887" cy="672845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accent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DA4A4-2C16-4816-DB86-A9071AC98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318" y="1460755"/>
            <a:ext cx="8915400" cy="3777622"/>
          </a:xfrm>
        </p:spPr>
        <p:txBody>
          <a:bodyPr/>
          <a:lstStyle/>
          <a:p>
            <a:r>
              <a:rPr lang="en-US" dirty="0"/>
              <a:t>This project demonstrates how HR analytics can:</a:t>
            </a:r>
          </a:p>
          <a:p>
            <a:r>
              <a:rPr lang="en-US" b="1" dirty="0"/>
              <a:t>Identify attrition drivers</a:t>
            </a:r>
          </a:p>
          <a:p>
            <a:r>
              <a:rPr lang="en-US" b="1" dirty="0"/>
              <a:t>Improve employee retention strategies</a:t>
            </a:r>
          </a:p>
          <a:p>
            <a:r>
              <a:rPr lang="en-US" b="1" dirty="0"/>
              <a:t>Support data-driven HR decisions</a:t>
            </a:r>
          </a:p>
          <a:p>
            <a:r>
              <a:rPr lang="en-US" dirty="0"/>
              <a:t>The dashboard provides clear insights for executives and HR leaders to take proactive actions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94095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75</TotalTime>
  <Words>368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Bahnschrift SemiBold</vt:lpstr>
      <vt:lpstr>Century Gothic</vt:lpstr>
      <vt:lpstr>Segoe UI Semibold</vt:lpstr>
      <vt:lpstr>Wingdings</vt:lpstr>
      <vt:lpstr>Wingdings 3</vt:lpstr>
      <vt:lpstr>Wisp</vt:lpstr>
      <vt:lpstr>HR Analytics Dashboard Employee Attrition Analysis </vt:lpstr>
      <vt:lpstr>Business Context</vt:lpstr>
      <vt:lpstr>Problem Statement</vt:lpstr>
      <vt:lpstr>Data Overview</vt:lpstr>
      <vt:lpstr>Key Insights</vt:lpstr>
      <vt:lpstr>DASHBOARD &amp; KPIs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sally Alaa</dc:creator>
  <cp:lastModifiedBy>sally Alaa</cp:lastModifiedBy>
  <cp:revision>1</cp:revision>
  <dcterms:created xsi:type="dcterms:W3CDTF">2026-01-05T17:34:36Z</dcterms:created>
  <dcterms:modified xsi:type="dcterms:W3CDTF">2026-01-05T18:50:11Z</dcterms:modified>
</cp:coreProperties>
</file>